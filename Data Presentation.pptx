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1" r:id="rId5"/>
    <p:sldId id="265" r:id="rId6"/>
    <p:sldId id="274" r:id="rId7"/>
    <p:sldId id="258" r:id="rId8"/>
    <p:sldId id="260" r:id="rId9"/>
    <p:sldId id="259" r:id="rId10"/>
    <p:sldId id="270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C4227-E23A-8BAB-9C63-A44E15E06F17}" v="452" dt="2025-11-20T17:00:06.443"/>
    <p1510:client id="{4F8AC40D-F6A9-10F0-7A29-1018F7856A86}" v="1" dt="2025-11-20T02:24:28.380"/>
    <p1510:client id="{A361941B-5C40-0CE6-8AE2-76806E562A1C}" v="2837" dt="2025-11-20T19:40:33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Payroll vs Performance: Examining Team Success in U.S. Sports Leagues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67646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By: Sam Bunten and Matt Thurston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8958-BCCF-7E0D-D260-BEA23BF1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CA464-D716-1FE9-D5F5-5A00980DC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530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What off-field factors impact a team's success?</a:t>
            </a:r>
          </a:p>
        </p:txBody>
      </p:sp>
    </p:spTree>
    <p:extLst>
      <p:ext uri="{BB962C8B-B14F-4D97-AF65-F5344CB8AC3E}">
        <p14:creationId xmlns:p14="http://schemas.microsoft.com/office/powerpoint/2010/main" val="3085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65418-3549-A6BF-EE30-1124D488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-168335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sz="400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EF4F6-E3C9-EAE7-B34D-93C6B4881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1983903"/>
            <a:ext cx="5929422" cy="35197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Different cap rules between the big 4 leagues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NBA has a soft cap with a luxury tax penalty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MLB has no salary cap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NFL has a hard cap. Can't exceed otherwise face severe penalties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NHL has a hard cap</a:t>
            </a:r>
          </a:p>
          <a:p>
            <a:r>
              <a:rPr lang="en-US" sz="2000" dirty="0"/>
              <a:t>These differences provide competitive advantages</a:t>
            </a:r>
          </a:p>
          <a:p>
            <a:r>
              <a:rPr lang="en-US" sz="2000" dirty="0"/>
              <a:t>Typically, larger cities or bigger markets do better</a:t>
            </a:r>
          </a:p>
          <a:p>
            <a:r>
              <a:rPr lang="en-US" sz="2000" dirty="0"/>
              <a:t>Richer owners can spend more in some circumstances</a:t>
            </a:r>
          </a:p>
          <a:p>
            <a:r>
              <a:rPr lang="en-US" sz="2000" dirty="0"/>
              <a:t>All of these combined cause fans to become annoyed with the lack of consistency in American sports</a:t>
            </a:r>
          </a:p>
        </p:txBody>
      </p:sp>
      <p:pic>
        <p:nvPicPr>
          <p:cNvPr id="4" name="Picture 3" descr="A group of logos of different teams&#10;&#10;AI-generated content may be incorrect.">
            <a:extLst>
              <a:ext uri="{FF2B5EF4-FFF2-40B4-BE49-F238E27FC236}">
                <a16:creationId xmlns:a16="http://schemas.microsoft.com/office/drawing/2014/main" id="{708C4F3D-A872-65A7-015A-EE2D38B3B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506" y="1834223"/>
            <a:ext cx="3765176" cy="308197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82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9B533-3A02-BD9D-4D46-3CC4E81E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2160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sz="400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5A2B-7BEC-A021-A970-032DC8CF2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191346"/>
            <a:ext cx="5929422" cy="35197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Salary and team cap information is widely available due to their league wide importance</a:t>
            </a:r>
          </a:p>
          <a:p>
            <a:r>
              <a:rPr lang="en-US" sz="2000" dirty="0"/>
              <a:t>We scraped data from Spotrac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 dirty="0"/>
              <a:t>Largest sports team and player contract resource online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2000" dirty="0"/>
              <a:t>We scraped from the 2025 season down to the 2015 season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2000" dirty="0"/>
              <a:t>Collected information on the various cap statistics per team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2000" dirty="0"/>
              <a:t>Collected the 100 highest paid players per year per team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2000" dirty="0"/>
              <a:t>This left us with 8 total data sets</a:t>
            </a:r>
          </a:p>
          <a:p>
            <a:endParaRPr lang="en-US" sz="1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logo with black text&#10;&#10;AI-generated content may be incorrect.">
            <a:extLst>
              <a:ext uri="{FF2B5EF4-FFF2-40B4-BE49-F238E27FC236}">
                <a16:creationId xmlns:a16="http://schemas.microsoft.com/office/drawing/2014/main" id="{E153E4AA-7B77-4742-7CA6-9852F3659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793" y="1892488"/>
            <a:ext cx="3073023" cy="307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96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71BB6-B2D4-AEB9-4B08-032DF880F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24782-CB0A-8661-CDBA-0DD1D9E69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After collection, we had to clean the datasets</a:t>
            </a:r>
          </a:p>
          <a:p>
            <a:r>
              <a:rPr lang="en-US" dirty="0"/>
              <a:t>A lot of the leagues had unnecessary data that we had to cut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Examples: Duplicate team name columns and row of totals, </a:t>
            </a:r>
          </a:p>
          <a:p>
            <a:r>
              <a:rPr lang="en-US" dirty="0"/>
              <a:t>The scraping only provided us with a team's record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had to convert this into win percentage for analysis</a:t>
            </a:r>
          </a:p>
          <a:p>
            <a:r>
              <a:rPr lang="en-US" dirty="0"/>
              <a:t>After we cleaned the data, we calculated correlation coefficients to gain a better understanding on the relationship between spending and wins</a:t>
            </a:r>
          </a:p>
          <a:p>
            <a:r>
              <a:rPr lang="en-US" dirty="0"/>
              <a:t>We also wanted to create initial visualizations to help guide our future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457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3E21-1DB0-F1D9-FEA7-5E9DE273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Exploratory Data Analysis for MLB </a:t>
            </a:r>
            <a:endParaRPr lang="en-US" dirty="0"/>
          </a:p>
        </p:txBody>
      </p:sp>
      <p:pic>
        <p:nvPicPr>
          <p:cNvPr id="5" name="Picture 4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54440A4D-A0F1-0F88-10B2-E8145FF64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47" y="1907015"/>
            <a:ext cx="5967643" cy="4221204"/>
          </a:xfrm>
          <a:prstGeom prst="rect">
            <a:avLst/>
          </a:prstGeom>
        </p:spPr>
      </p:pic>
      <p:pic>
        <p:nvPicPr>
          <p:cNvPr id="7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413B5A99-9250-9B92-B31B-F64FD11D4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763" y="1906814"/>
            <a:ext cx="4705174" cy="394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2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5AF85-FBFE-7E9C-1F13-472A1968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Exploratory Analysis for MLB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62B2DA-4A83-720F-6D1B-61BC57EC8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836" y="1854247"/>
            <a:ext cx="5530884" cy="4114800"/>
          </a:xfrm>
          <a:prstGeom prst="rect">
            <a:avLst/>
          </a:prstGeom>
        </p:spPr>
      </p:pic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4F4D6E7-E1A8-BCB6-7F6A-47A0706FF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557" y="2252579"/>
            <a:ext cx="5938963" cy="331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71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DD98-D9CA-AC35-9749-4A5F1F90C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Exploratory Analysis for NFL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C8FBFE-B073-33D1-661C-4E39C09D8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912" y="2857525"/>
            <a:ext cx="4995143" cy="2232753"/>
          </a:xfrm>
          <a:prstGeom prst="rect">
            <a:avLst/>
          </a:prstGeom>
        </p:spPr>
      </p:pic>
      <p:pic>
        <p:nvPicPr>
          <p:cNvPr id="7" name="Content Placeholder 6" descr="A graph showing different colored dots&#10;&#10;AI-generated content may be incorrect.">
            <a:extLst>
              <a:ext uri="{FF2B5EF4-FFF2-40B4-BE49-F238E27FC236}">
                <a16:creationId xmlns:a16="http://schemas.microsoft.com/office/drawing/2014/main" id="{3FE560FF-9ADD-FE93-39C3-6AADBC698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7" y="1411412"/>
            <a:ext cx="7119467" cy="512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030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06B3-44B2-392C-EEF7-A4E205DA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Exploratory Analysis for NFL</a:t>
            </a:r>
          </a:p>
        </p:txBody>
      </p:sp>
      <p:pic>
        <p:nvPicPr>
          <p:cNvPr id="4" name="Content Placeholder 3" descr="A close-up of a number&#10;&#10;AI-generated content may be incorrect.">
            <a:extLst>
              <a:ext uri="{FF2B5EF4-FFF2-40B4-BE49-F238E27FC236}">
                <a16:creationId xmlns:a16="http://schemas.microsoft.com/office/drawing/2014/main" id="{73EC3B17-D3CB-404A-EDA6-01DAFDA92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3977" y="2580740"/>
            <a:ext cx="5608949" cy="1695770"/>
          </a:xfrm>
          <a:prstGeom prst="rect">
            <a:avLst/>
          </a:prstGeom>
        </p:spPr>
      </p:pic>
      <p:pic>
        <p:nvPicPr>
          <p:cNvPr id="3" name="Picture 2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45E8C0BF-19FB-047D-F5C1-768CF9AAC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07" y="1716349"/>
            <a:ext cx="6292049" cy="419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6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EBF3-5845-1EAA-6430-A50CE8F2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Exploratory Analysis for NBA</a:t>
            </a:r>
          </a:p>
        </p:txBody>
      </p:sp>
      <p:pic>
        <p:nvPicPr>
          <p:cNvPr id="3" name="Picture 2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63405B4A-257B-2890-072A-F1AAC4FCF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527" y="1503947"/>
            <a:ext cx="7038473" cy="46923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FD7E04-3DB8-00A2-6D7B-F4C730FD0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" y="1653929"/>
            <a:ext cx="5149517" cy="39917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E0FD24-1A57-E25B-D8A2-A52C67F79170}"/>
              </a:ext>
            </a:extLst>
          </p:cNvPr>
          <p:cNvSpPr txBox="1"/>
          <p:nvPr/>
        </p:nvSpPr>
        <p:spPr>
          <a:xfrm>
            <a:off x="160420" y="5604710"/>
            <a:ext cx="483268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Correlation (Wins vs. Cap Allocations)</a:t>
            </a:r>
            <a:br>
              <a:rPr lang="en-US" sz="1100"/>
            </a:br>
            <a:r>
              <a:rPr lang="en-US" sz="1100"/>
              <a:t>2015: .42         2021: .33</a:t>
            </a:r>
            <a:br>
              <a:rPr lang="en-US" sz="1100"/>
            </a:br>
            <a:r>
              <a:rPr lang="en-US" sz="1100"/>
              <a:t>2016: .51         2022: .41</a:t>
            </a:r>
            <a:br>
              <a:rPr lang="en-US" sz="1100"/>
            </a:br>
            <a:r>
              <a:rPr lang="en-US" sz="1100"/>
              <a:t>2017: .47         2023: .36</a:t>
            </a:r>
            <a:br>
              <a:rPr lang="en-US" sz="1100"/>
            </a:br>
            <a:r>
              <a:rPr lang="en-US" sz="1100"/>
              <a:t>2018: .39         2024: .49</a:t>
            </a:r>
          </a:p>
          <a:p>
            <a:r>
              <a:rPr lang="en-US" sz="1100"/>
              <a:t>2019: .44         2025: .31</a:t>
            </a:r>
          </a:p>
          <a:p>
            <a:r>
              <a:rPr lang="en-US" sz="1100"/>
              <a:t>2020: .28</a:t>
            </a:r>
            <a:br>
              <a:rPr lang="en-US" sz="1100"/>
            </a:br>
            <a:r>
              <a:rPr lang="en-US" sz="1100"/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3317939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9D61-67E0-9BF1-6B96-294B9EFB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4AE47-7D2D-220A-D538-F93E46F3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Owners would want to look at our data to understand what could be the optimal amount to spend on a team</a:t>
            </a:r>
          </a:p>
          <a:p>
            <a:r>
              <a:rPr lang="en-US" dirty="0"/>
              <a:t>Players would like to see this information during contract discussion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For example: Some players take a pay cut to improve odds of winning</a:t>
            </a:r>
          </a:p>
          <a:p>
            <a:r>
              <a:rPr lang="en-US" dirty="0"/>
              <a:t>Are the highest paid players the ones driving their team's performance or is it the underpaid ones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637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EF3D-492F-4365-E065-7122EB53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77FAB-54E2-C7BC-AF56-D8C23F91D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Unfair Advantages: League structure differences allows different owners and markets to dominate over time</a:t>
            </a:r>
          </a:p>
          <a:p>
            <a:r>
              <a:rPr lang="en-US" dirty="0"/>
              <a:t>Fan Frustration: Fans are becoming annoyed with "super teams" and losing players to larger markets</a:t>
            </a:r>
          </a:p>
          <a:p>
            <a:r>
              <a:rPr lang="en-US" dirty="0"/>
              <a:t>Sporting Integrity: Why would fans watch if results are too easily predicted by spending</a:t>
            </a:r>
          </a:p>
          <a:p>
            <a:r>
              <a:rPr lang="en-US" dirty="0"/>
              <a:t>Are leagues taking advantage of their players or on the flip side, paying them too much</a:t>
            </a:r>
          </a:p>
        </p:txBody>
      </p:sp>
    </p:spTree>
    <p:extLst>
      <p:ext uri="{BB962C8B-B14F-4D97-AF65-F5344CB8AC3E}">
        <p14:creationId xmlns:p14="http://schemas.microsoft.com/office/powerpoint/2010/main" val="4045280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90F9-BAFC-D1B7-4A3C-7A27ACA95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Extensions and 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B38A0-3B03-0322-AF25-77BA25532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Expand to more players per league</a:t>
            </a:r>
          </a:p>
          <a:p>
            <a:r>
              <a:rPr lang="en-US" dirty="0"/>
              <a:t>Include more variables like population of the city</a:t>
            </a:r>
          </a:p>
          <a:p>
            <a:r>
              <a:rPr lang="en-US" dirty="0"/>
              <a:t>Look at average age of a team </a:t>
            </a:r>
          </a:p>
          <a:p>
            <a:r>
              <a:rPr lang="en-US" dirty="0"/>
              <a:t>Goal: Create a linear regression for each league and see what variables impact the number of wins that a team has in any given season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5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D95F-87BE-C407-98D9-A111EBE5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26E41-4BA8-0C7E-D25A-92F50944F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Payroll and cap information for a team clearly has a relationship with win percentage</a:t>
            </a:r>
          </a:p>
          <a:p>
            <a:r>
              <a:rPr lang="en-US" dirty="0"/>
              <a:t>Other factors are at play though</a:t>
            </a:r>
          </a:p>
          <a:p>
            <a:r>
              <a:rPr lang="en-US" dirty="0"/>
              <a:t>We need to look into and research more off the field variables that could be impacting it</a:t>
            </a:r>
          </a:p>
          <a:p>
            <a:r>
              <a:rPr lang="en-US" dirty="0"/>
              <a:t>Sports analytics is already huge within the leagues themselves, but this form of analysis isn't typically available to the average fan</a:t>
            </a:r>
          </a:p>
          <a:p>
            <a:endParaRPr lang="en-US" dirty="0"/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87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Payroll vs Performance: Examining Team Success in U.S. Sports Leagues</vt:lpstr>
      <vt:lpstr>Research Question</vt:lpstr>
      <vt:lpstr>Problem</vt:lpstr>
      <vt:lpstr>Data Collection</vt:lpstr>
      <vt:lpstr>Approach</vt:lpstr>
      <vt:lpstr>Exploratory Data Analysis for MLB </vt:lpstr>
      <vt:lpstr>Exploratory Analysis for MLB</vt:lpstr>
      <vt:lpstr>Exploratory Analysis for NFL</vt:lpstr>
      <vt:lpstr>Exploratory Analysis for NFL</vt:lpstr>
      <vt:lpstr>Exploratory Analysis for NBA</vt:lpstr>
      <vt:lpstr>Implications</vt:lpstr>
      <vt:lpstr>Ethics</vt:lpstr>
      <vt:lpstr>Extensions and Future Plans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216</cp:revision>
  <dcterms:created xsi:type="dcterms:W3CDTF">2025-11-20T02:24:25Z</dcterms:created>
  <dcterms:modified xsi:type="dcterms:W3CDTF">2025-11-20T19:45:17Z</dcterms:modified>
</cp:coreProperties>
</file>